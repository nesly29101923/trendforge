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522de4941b41ca" /><Relationship Type="http://schemas.openxmlformats.org/officeDocument/2006/relationships/extended-properties" Target="/docProps/app.xml" Id="R7055779a7e0e47a1" /><Relationship Type="http://schemas.openxmlformats.org/officeDocument/2006/relationships/officeDocument" Target="/ppt/presentation.xml" Id="R7ea3db7f75eb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5c3040103846c2"/>
  </p:sldMasterIdLst>
  <p:notesMasterIdLst>
    <p:notesMasterId xmlns:r="http://schemas.openxmlformats.org/officeDocument/2006/relationships" r:id="R21e2012d5064451c"/>
  </p:notesMasterIdLst>
  <p:sldIdLst>
    <p:sldId xmlns:r="http://schemas.openxmlformats.org/officeDocument/2006/relationships" id="256" r:id="Rdb3568f208884af3"/>
    <p:sldId xmlns:r="http://schemas.openxmlformats.org/officeDocument/2006/relationships" id="257" r:id="Ref49127d30d14d24"/>
    <p:sldId xmlns:r="http://schemas.openxmlformats.org/officeDocument/2006/relationships" id="258" r:id="R7173826541d84ac3"/>
    <p:sldId xmlns:r="http://schemas.openxmlformats.org/officeDocument/2006/relationships" id="259" r:id="R7266fffe390b40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5222d3ca246dd" /><Relationship Type="http://schemas.openxmlformats.org/officeDocument/2006/relationships/slideMaster" Target="/ppt/slideMasters/slideMaster1.xml" Id="Rcc5c3040103846c2" /><Relationship Type="http://schemas.openxmlformats.org/officeDocument/2006/relationships/notesMaster" Target="/ppt/notesMasters/notesMaster1.xml" Id="R21e2012d5064451c" /><Relationship Type="http://schemas.openxmlformats.org/officeDocument/2006/relationships/presProps" Target="/ppt/presProps.xml" Id="R22b86dfcf8ed4d51" /><Relationship Type="http://schemas.openxmlformats.org/officeDocument/2006/relationships/tableStyles" Target="/ppt/tableStyles.xml" Id="R8b96aea305354474" /><Relationship Type="http://schemas.openxmlformats.org/officeDocument/2006/relationships/slide" Target="/ppt/slides/slide1.xml" Id="Rdb3568f208884af3" /><Relationship Type="http://schemas.openxmlformats.org/officeDocument/2006/relationships/slide" Target="/ppt/slides/slide2.xml" Id="Ref49127d30d14d24" /><Relationship Type="http://schemas.openxmlformats.org/officeDocument/2006/relationships/slide" Target="/ppt/slides/slide3.xml" Id="R7173826541d84ac3" /><Relationship Type="http://schemas.openxmlformats.org/officeDocument/2006/relationships/slide" Target="/ppt/slides/slide4.xml" Id="R7266fffe390b40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19dabbeaa4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b531f2f08c40b0" /><Relationship Type="http://schemas.openxmlformats.org/officeDocument/2006/relationships/notesMaster" Target="/ppt/notesMasters/notesMaster1.xml" Id="R0e83b8051ef546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42caa070da4c17" /><Relationship Type="http://schemas.openxmlformats.org/officeDocument/2006/relationships/notesMaster" Target="/ppt/notesMasters/notesMaster1.xml" Id="R110bb305507049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77f1503724ed3" /><Relationship Type="http://schemas.openxmlformats.org/officeDocument/2006/relationships/notesMaster" Target="/ppt/notesMasters/notesMaster1.xml" Id="R8e0620ce3b754f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9ae6b9285944c4" /><Relationship Type="http://schemas.openxmlformats.org/officeDocument/2006/relationships/notesMaster" Target="/ppt/notesMasters/notesMaster1.xml" Id="Rdb5913c4054b40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Small business owners may have a good product and a phone, but choosing and adapting a trend requires marketing judgment. The survey establishes the customer-acquisition problem; it does not prove demand for TrendForge. Source: https://www.constantcontact.com/news/2025-03-04-new-wave-of-smbs-is-social-first-technology-driven-and-highly-adaptable . Published March 4, 2025. Survey of 1,600 businesses operating for five years or less across the US, UK, Australia and Canada. 52% identified customer acquisition as their top marketing challenge.</a:t>
            </a:r>
          </a:p>
          <a:p xmlns:a="http://schemas.openxmlformats.org/drawingml/2006/main">
            <a:br/>
            <a:r>
              <a:t>Additional source: https://www.constantcontact.com/news/2025-09-03-the-state-of-small-business-marketing-effort-is-up-while-confidence-has-declined . Published September 3, 2025; survey conducted June 2025 by Ascend2 Research, 2,500 small business decision-makers across Australia, Canada, the United Kingdom and the United States. 42% reported less than one hour per day to spend on marketing. This is all marketing time, not video-production time. Do not combine denominators across the two surveys.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use case, not a customer success story. A jewelry seller has a new necklace and wants store visits. They need a relevant format and practical filming instructions. The same workflow could apply to other small businesses marketing a physical product. The image was generated for illustration using OpenAI image generation and is not evidence of a customer or a real event.</a:t>
            </a:r>
          </a:p>
          <a:p xmlns:a="http://schemas.openxmlformats.org/drawingml/2006/main">
            <a:br/>
            <a:r>
              <a:t>Source: https://www.constantcontact.com/news/2026-06-10-the-rise-of-the-smb-creator-how-small-businesses-are-leveraging-social-media-and-ai-to-capture-consumer-attention . Published June 10, 2026. Consumer sample: 2,255 across US, UK, Canada and Australia/New Zealand. 49% use social media to discover new small businesses. This is discovery behavior, not a purchase rate or a claim that TrendForge increases sales.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flow: select a trend, inspect its analysis, enter a product brief, generate a shot-by-shot filming guide, and upload a draft for specific feedback. Keep the demo focused on the human filming workflow. AI writes the plan, but generating a video is not required. Product capabilities are supported by the project implementation in lib/analysis.ts and lib/viral.ts; do not imply that suggestions guarantee sales or virality. During a live demo, show one useful instruction and one concrete draft improvement.</a:t>
            </a:r>
          </a:p>
          <a:p xmlns:a="http://schemas.openxmlformats.org/drawingml/2006/main">
            <a:br/>
            <a:r>
              <a:t>Specific improvement points to demonstrate: varied product shots instead of one continuous sales pitch; readable offer or call-to-action text; specific draft feedback on pacing and brand integration. These correspond to the existing film-guide and draft-review capabilities, not a new claim of automated sales tracking.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goal: more sales from less content effort. External evidence supports concrete creative improvements, not a claim of proven TrendForge lift. Source: https://ads.tiktok.com/business/en-US/blog/creative-that-drives-conversions . Published December 21, 2021. TikTok used a machine-learning model to analyze thousands of auction-platform ads. Ecommerce section: varied scenes were associated with 38% conversion lift compared with one person selling a product in one continuous shot. Ecommerce videos using captions or on-screen text clearly displaying an offer or CTA showed 80% conversion lift compared with videos without text or CTA. Historical platform-reported paid-ad associations; not randomized causal estimates, not organic-post forecasts, and not revenue-growth percentages. These lifts must not be summed or multiplied. The article gives no exact sample count or confidence intervals. TrendForge can support shot planning and on-screen text, but its revenue impact remains unvalidated. Proposed pilot: compare multiple comparable usual and assisted posts for each business, controlling or recording offer, posting time, spend and audience. Record time spent; use campaign links/codes and store analytics for visits and orders. Sales tracking is a pilot measurement plan, not an implemented TrendForge capability. Consider contribution margin and content/tool costs before claiming profit gains.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5447fd38a4e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358107bab47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0560ee21e48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4d1b8e9b04c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9f49ff97d4f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d269bb2de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65D7CD-5512-43D4-BF9F-4ED992211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7E189E-DA92-4331-9BAC-01D4846E175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4F6DE1-D6C6-4D54-894F-3BF564390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076289-273C-425F-87E6-95CD6DF88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BF10BA-D127-45E1-A370-A88F8DE35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B9432D-BAB2-47C9-AD9E-3F68BED4E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656F7B-FF08-40F2-B943-6378A1DA42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AC5053E-551F-4ACF-BF97-9F65D6CDA7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0DD859-4F8F-4232-A8F0-5960ECBDD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664B6-4677-44EA-A276-65B5E8B01C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bface611984cf0" /><Relationship Type="http://schemas.openxmlformats.org/officeDocument/2006/relationships/slideLayout" Target="/ppt/slideLayouts/slideLayout1.xml" Id="R40a4f19e12434c09" /><Relationship Type="http://schemas.openxmlformats.org/officeDocument/2006/relationships/slideLayout" Target="/ppt/slideLayouts/slideLayout2.xml" Id="R872ac3827230448a" /><Relationship Type="http://schemas.openxmlformats.org/officeDocument/2006/relationships/slideLayout" Target="/ppt/slideLayouts/slideLayout3.xml" Id="R7e57139a04654434" /><Relationship Type="http://schemas.openxmlformats.org/officeDocument/2006/relationships/slideLayout" Target="/ppt/slideLayouts/slideLayout4.xml" Id="Ra9e1f03e642b43c0" /><Relationship Type="http://schemas.openxmlformats.org/officeDocument/2006/relationships/slideLayout" Target="/ppt/slideLayouts/slideLayout5.xml" Id="R59082bf1f5604eba" /><Relationship Type="http://schemas.openxmlformats.org/officeDocument/2006/relationships/slideLayout" Target="/ppt/slideLayouts/slideLayout6.xml" Id="Ra0f916421ff94e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a4f19e12434c09"/>
    <p:sldLayoutId xmlns:r="http://schemas.openxmlformats.org/officeDocument/2006/relationships" id="2147483650" r:id="R872ac3827230448a"/>
    <p:sldLayoutId xmlns:r="http://schemas.openxmlformats.org/officeDocument/2006/relationships" id="2147483651" r:id="R7e57139a04654434"/>
    <p:sldLayoutId xmlns:r="http://schemas.openxmlformats.org/officeDocument/2006/relationships" id="2147483652" r:id="Ra9e1f03e642b43c0"/>
    <p:sldLayoutId xmlns:r="http://schemas.openxmlformats.org/officeDocument/2006/relationships" id="2147483653" r:id="R59082bf1f5604eba"/>
    <p:sldLayoutId xmlns:r="http://schemas.openxmlformats.org/officeDocument/2006/relationships" id="2147483654" r:id="Ra0f916421ff94e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9ef55877a4618" /><Relationship Type="http://schemas.openxmlformats.org/officeDocument/2006/relationships/notesSlide" Target="/ppt/notesSlides/notesSlide1.xml" Id="R0fb9530a2967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8ddbf5e1a403d" /><Relationship Type="http://schemas.openxmlformats.org/officeDocument/2006/relationships/image" Target="/ppt/media/image.png" Id="R7ddca313e3984149" /><Relationship Type="http://schemas.openxmlformats.org/officeDocument/2006/relationships/notesSlide" Target="/ppt/notesSlides/notesSlide2.xml" Id="Rd38b9127a23646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cfa28b31e47e2" /><Relationship Type="http://schemas.openxmlformats.org/officeDocument/2006/relationships/notesSlide" Target="/ppt/notesSlides/notesSlide3.xml" Id="R52fc06d44b0f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1e3c36cf546b3" /><Relationship Type="http://schemas.openxmlformats.org/officeDocument/2006/relationships/notesSlide" Target="/ppt/notesSlides/notesSlide4.xml" Id="R5372da705b5e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8A103-43F8-4EFE-A322-58EBE52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22793-891D-4989-9C3C-C2312AC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D4D50-7C42-4C5A-B08A-4391477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9532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A product to sell.</a:t>
            </a:r>
          </a:p>
          <a:p xmlns:a="http://schemas.openxmlformats.org/drawingml/2006/main">
            <a:pPr>
              <a:buNone/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No idea what</a:t>
            </a:r>
          </a:p>
          <a:p xmlns:a="http://schemas.openxmlformats.org/drawingml/2006/main">
            <a:pPr>
              <a:buNone/>
              <a:def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to film.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210E9-1358-4C62-B9D8-07B4DB28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95825"/>
            <a:ext cx="681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42% have less than one hour a day</a:t>
            </a:r>
          </a:p>
          <a:p xmlns:a="http://schemas.openxmlformats.org/drawingml/2006/main">
            <a:pPr>
              <a:buNone/>
              <a:def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to spend on marketing.²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0D364-6FCD-4D38-B375-7F88C10C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38300"/>
            <a:ext cx="33337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4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94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52%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4A7E3-EF95-408B-9907-6B6008C2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67075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of early-stage businesses</a:t>
            </a:r>
          </a:p>
          <a:p xmlns:a="http://schemas.openxmlformats.org/drawingml/2006/main">
            <a:pPr>
              <a:buNone/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surveyed named customer</a:t>
            </a:r>
          </a:p>
          <a:p xmlns:a="http://schemas.openxmlformats.org/drawingml/2006/main">
            <a:pPr>
              <a:buNone/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acquisition their top</a:t>
            </a:r>
          </a:p>
          <a:p xmlns:a="http://schemas.openxmlformats.org/drawingml/2006/main">
            <a:pPr>
              <a:buNone/>
              <a:def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marketing challenge.¹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0B51D-BB54-4CCB-BA60-97A1DE9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62675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Constant Contact, 2025 · ¹ 1,600 early-stage businesses · ² 2,500 SMB decision-makers</a:t>
            </a:r>
          </a:p>
          <a:p xmlns:a="http://schemas.openxmlformats.org/drawingml/2006/main">
            <a:pPr>
              <a:buNone/>
              <a:def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Separate surveys across the US, UK, Australia and Canada</a:t>
            </a:r>
          </a:p>
        </p:txBody>
      </p:sp>
    </p:spTree>
    <p:extLst>
      <p:ext uri="{BB962C8B-B14F-4D97-AF65-F5344CB8AC3E}">
        <p14:creationId xmlns:p14="http://schemas.microsoft.com/office/powerpoint/2010/main" val="1422281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75D1-0A94-495B-AA77-AEA0835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577BB-4DC7-40C6-A492-D32EFCFB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716CC-1835-49AF-B9C2-0FBC67E6B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a313e3984149"/>
          <a:srcRect xmlns:a="http://schemas.openxmlformats.org/drawingml/2006/main" l="5571" t="0" r="55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0" y="0"/>
            <a:ext cx="4876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26085-1C64-4988-817B-511014A6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429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new product.</a:t>
            </a:r>
          </a:p>
          <a:p xmlns:a="http://schemas.openxmlformats.org/drawingml/2006/main">
            <a:pPr>
              <a:buNone/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video to make.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080F-0FA7-4715-A8B5-C9C1020F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0"/>
            <a:ext cx="6143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A jewelry seller wants to promote</a:t>
            </a:r>
          </a:p>
          <a:p xmlns:a="http://schemas.openxmlformats.org/drawingml/2006/main">
            <a:pPr>
              <a:buNone/>
              <a:def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a new necklace on social media.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B05B1-5872-4217-B70C-B6DCB446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33900"/>
            <a:ext cx="1714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5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49%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77E8F-0972-47ED-9AE7-108C19B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34100"/>
            <a:ext cx="647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¹ Constant Contact, June 2026 · 2,255 consumers</a:t>
            </a:r>
          </a:p>
          <a:p xmlns:a="http://schemas.openxmlformats.org/drawingml/2006/main">
            <a:pPr>
              <a:buNone/>
              <a:defRPr sz="12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Illustrative use case · AI-generated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CA702-A9F5-4220-94C6-23249A57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6725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of consumers surveyed use social media</a:t>
            </a:r>
          </a:p>
          <a:p xmlns:a="http://schemas.openxmlformats.org/drawingml/2006/main">
            <a:pPr>
              <a:defRPr sz="18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to discover new small businesses.¹</a:t>
            </a:r>
          </a:p>
        </p:txBody>
      </p:sp>
    </p:spTree>
    <p:extLst>
      <p:ext uri="{BB962C8B-B14F-4D97-AF65-F5344CB8AC3E}">
        <p14:creationId xmlns:p14="http://schemas.microsoft.com/office/powerpoint/2010/main" val="1775043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0F6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E4A66-4A04-4724-B5C3-435F168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1508F-0393-4C91-B4E7-D1E33370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A8F46-10B7-4947-B1D4-74F5A975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76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trend becomes</a:t>
            </a:r>
          </a:p>
          <a:p xmlns:a="http://schemas.openxmlformats.org/drawingml/2006/main">
            <a:pPr>
              <a:buNone/>
              <a:def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 filming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BA76B-89EC-4BCB-9373-5D6362CA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3C181-10AD-4FFC-8CAC-D627277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909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Choose a 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7967C-9D69-458D-92A0-46554E58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5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See its hook, timing and fit for your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BBEEB-D613-4EBE-881E-5029A558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E95E8-E631-499A-B0A6-5A43F23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576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Get a filming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D65CF-6025-4882-B72D-412F8A4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Get a shot sequence and a clear offer on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EB5B2-008F-4E49-89C0-2E242E0D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066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12732-338D-4C62-84F3-13F8B55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244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Record and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CBA34-1D4D-41B0-8C5D-DA5D545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7207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Check pacing, product clarity and the next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568F4-37B1-4D80-91A5-77161F9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52B23"/>
                </a:solidFill>
                <a:latin typeface="Helvetica Neue"/>
                <a:ea typeface="Helvetica Neue"/>
                <a:cs typeface="Helvetica Neue"/>
              </a:rPr>
              <a:t>AI analyzes the reference. You make the video.</a:t>
            </a:r>
          </a:p>
        </p:txBody>
      </p:sp>
    </p:spTree>
    <p:extLst>
      <p:ext uri="{BB962C8B-B14F-4D97-AF65-F5344CB8AC3E}">
        <p14:creationId xmlns:p14="http://schemas.microsoft.com/office/powerpoint/2010/main" val="34800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17965-B2E9-4E9A-966A-C2D9611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TrendForge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25C13-4C0D-4BBC-80E8-92ABBA9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D9C6-EDDB-4B81-95F8-64489932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53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4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Clearer videos.</a:t>
            </a:r>
          </a:p>
          <a:p xmlns:a="http://schemas.openxmlformats.org/drawingml/2006/main">
            <a:pPr>
              <a:buNone/>
              <a:defRPr sz="4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A stronger path to sales.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13EBC-1DEC-4CF5-ADF9-D683C1B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Historical ecommerce ad benchmarks from TikTok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00D2F-892A-47E4-B081-AE0F21B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81400"/>
            <a:ext cx="3905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61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+38%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0CD44-E465-45F2-85BE-87BD02E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43425"/>
            <a:ext cx="5000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Reported conversion lift with varied scenes</a:t>
            </a:r>
          </a:p>
          <a:p xmlns:a="http://schemas.openxmlformats.org/drawingml/2006/main">
            <a:pPr>
              <a:buNone/>
              <a:def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vs. one continuous product sales 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25980-DB59-4C75-BDCC-B29DDEA3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3905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61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D0F66B"/>
                </a:solidFill>
                <a:latin typeface="Helvetica Neue"/>
                <a:ea typeface="Helvetica Neue"/>
                <a:cs typeface="Helvetica Neue"/>
              </a:rPr>
              <a:t>+80%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F62CC-FAB4-473B-A008-86BBC6F4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434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Reported conversion lift with offer / CTA text</a:t>
            </a:r>
          </a:p>
          <a:p xmlns:a="http://schemas.openxmlformats.org/drawingml/2006/main">
            <a:pPr>
              <a:buNone/>
              <a:def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vs. videos without text or a CTA.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BDCB-CE97-46F0-8E32-79ADB55D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05450"/>
            <a:ext cx="1090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3F1E8"/>
                </a:solidFill>
                <a:latin typeface="Helvetica Neue"/>
                <a:ea typeface="Helvetica Neue"/>
                <a:cs typeface="Helvetica Neue"/>
              </a:rPr>
              <a:t>Improve: shot variety + visible offer + clear next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8C38E-11D7-4026-B2AF-5722404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34075"/>
            <a:ext cx="1090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Pilot measures: minutes per video · tracked store visits · attributed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EBBB4-9999-44E3-BF0F-77F8E6C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48425"/>
            <a:ext cx="1095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FB6AA"/>
                </a:solidFill>
                <a:latin typeface="Helvetica Neue"/>
                <a:ea typeface="Helvetica Neue"/>
                <a:cs typeface="Helvetica Neue"/>
              </a:rPr>
              <a:t>Source: TikTok, Dec 2021 · Paid-ad associations, not additive or guaranteed · Not TrendForge results</a:t>
            </a:r>
          </a:p>
        </p:txBody>
      </p:sp>
    </p:spTree>
    <p:extLst>
      <p:ext uri="{BB962C8B-B14F-4D97-AF65-F5344CB8AC3E}">
        <p14:creationId xmlns:p14="http://schemas.microsoft.com/office/powerpoint/2010/main" val="1298660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2026-10-12T10:50:45.9940000Z</dcterms:created>
  <dcterms:modified xsi:type="dcterms:W3CDTF">2026-10-12T10:50:45.9940000Z</dcterms:modified>
</coreProperties>
</file>