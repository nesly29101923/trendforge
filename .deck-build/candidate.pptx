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3844f628d1443b" /><Relationship Type="http://schemas.openxmlformats.org/officeDocument/2006/relationships/extended-properties" Target="/docProps/app.xml" Id="R64b0b2603b0c4866" /><Relationship Type="http://schemas.openxmlformats.org/officeDocument/2006/relationships/officeDocument" Target="/ppt/presentation.xml" Id="R8089d2d7c4d344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e4c85822ed4be0"/>
  </p:sldMasterIdLst>
  <p:notesMasterIdLst>
    <p:notesMasterId xmlns:r="http://schemas.openxmlformats.org/officeDocument/2006/relationships" r:id="R55699c67566d4bf3"/>
  </p:notesMasterIdLst>
  <p:sldIdLst>
    <p:sldId xmlns:r="http://schemas.openxmlformats.org/officeDocument/2006/relationships" id="256" r:id="R64a66cfbd1c54660"/>
    <p:sldId xmlns:r="http://schemas.openxmlformats.org/officeDocument/2006/relationships" id="257" r:id="R8aa9b71623794c12"/>
    <p:sldId xmlns:r="http://schemas.openxmlformats.org/officeDocument/2006/relationships" id="258" r:id="Rfd17bc67de54496f"/>
    <p:sldId xmlns:r="http://schemas.openxmlformats.org/officeDocument/2006/relationships" id="259" r:id="Rb54ab8a566d649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3c7fd51c154e67" /><Relationship Type="http://schemas.openxmlformats.org/officeDocument/2006/relationships/slideMaster" Target="/ppt/slideMasters/slideMaster1.xml" Id="R74e4c85822ed4be0" /><Relationship Type="http://schemas.openxmlformats.org/officeDocument/2006/relationships/notesMaster" Target="/ppt/notesMasters/notesMaster1.xml" Id="R55699c67566d4bf3" /><Relationship Type="http://schemas.openxmlformats.org/officeDocument/2006/relationships/presProps" Target="/ppt/presProps.xml" Id="R7d5842fd52eb4f40" /><Relationship Type="http://schemas.openxmlformats.org/officeDocument/2006/relationships/tableStyles" Target="/ppt/tableStyles.xml" Id="Rdc401d96c7674a75" /><Relationship Type="http://schemas.openxmlformats.org/officeDocument/2006/relationships/slide" Target="/ppt/slides/slide1.xml" Id="R64a66cfbd1c54660" /><Relationship Type="http://schemas.openxmlformats.org/officeDocument/2006/relationships/slide" Target="/ppt/slides/slide2.xml" Id="R8aa9b71623794c12" /><Relationship Type="http://schemas.openxmlformats.org/officeDocument/2006/relationships/slide" Target="/ppt/slides/slide3.xml" Id="Rfd17bc67de54496f" /><Relationship Type="http://schemas.openxmlformats.org/officeDocument/2006/relationships/slide" Target="/ppt/slides/slide4.xml" Id="Rb54ab8a566d649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ebcdc879f847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db45eb46ec4480" /><Relationship Type="http://schemas.openxmlformats.org/officeDocument/2006/relationships/notesMaster" Target="/ppt/notesMasters/notesMaster1.xml" Id="R456fb546e08f43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8223afd4241c5" /><Relationship Type="http://schemas.openxmlformats.org/officeDocument/2006/relationships/notesMaster" Target="/ppt/notesMasters/notesMaster1.xml" Id="Raead2da471fa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5223c5d024143" /><Relationship Type="http://schemas.openxmlformats.org/officeDocument/2006/relationships/notesMaster" Target="/ppt/notesMasters/notesMaster1.xml" Id="R1c99be042bba44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6c7ead7b8c49b0" /><Relationship Type="http://schemas.openxmlformats.org/officeDocument/2006/relationships/notesMaster" Target="/ppt/notesMasters/notesMaster1.xml" Id="Ra4f56a085e04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Small business owners may have a good product and a phone, but choosing and adapting a trend requires marketing judgment. The survey establishes the customer-acquisition problem; it does not prove demand for TrendForge. Source: https://www.constantcontact.com/news/2025-03-04-new-wave-of-smbs-is-social-first-technology-driven-and-highly-adaptable . Published March 4, 2025. Survey of 1,600 businesses operating for five years or less across the US, UK, Australia and Canada. 52% identified customer acquisition as their top marketing challenge.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use case, not a customer success story. A jewelry seller has a new necklace and wants store visits. They need a relevant format and practical filming instructions. The same workflow could apply to other small businesses marketing a physical product. The image was generated for illustration using OpenAI image generation and is not evidence of a customer or a real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flow: select a trend, inspect its analysis, enter a product brief, generate a shot-by-shot filming guide, and upload a draft for specific feedback. Keep the demo focused on the human filming workflow. AI writes the plan, but generating a video is not required. Product capabilities are supported by the project implementation in lib/analysis.ts and lib/viral.ts; do not imply that suggestions guarantee sales or virality. During a live demo, show one useful instruction and one concrete draft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business goal is to help small business owners generate more value from the time they spend creating content. We have not validated a revenue uplift. In a pilot, compare multiple comparable posts with and without TrendForge, recording time spent, tracked store visits and attributed orders. Use tracked links or codes; attributed sales alone do not establish causal lift. Longer term, account for contribution margin and content/tool costs. Do not use the prototype expected-views estimate or score-after-fixes as evidence of financial performance. Close by returning to the use case: an owner should leave knowing what to film and how to improve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b91c5ae6c47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09ea4802442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8f4244b964d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f726478ec43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e4a0cc8864b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e56ea39294b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65D7CD-5512-43D4-BF9F-4ED992211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7E189E-DA92-4331-9BAC-01D4846E17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4F6DE1-D6C6-4D54-894F-3BF564390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076289-273C-425F-87E6-95CD6DF887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BF10BA-D127-45E1-A370-A88F8DE35A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B9432D-BAB2-47C9-AD9E-3F68BED4E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656F7B-FF08-40F2-B943-6378A1DA4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C5053E-551F-4ACF-BF97-9F65D6CDA7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0DD859-4F8F-4232-A8F0-5960ECBDD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664B6-4677-44EA-A276-65B5E8B01C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14b008faca43ce" /><Relationship Type="http://schemas.openxmlformats.org/officeDocument/2006/relationships/slideLayout" Target="/ppt/slideLayouts/slideLayout1.xml" Id="R02ee65c3ccce496d" /><Relationship Type="http://schemas.openxmlformats.org/officeDocument/2006/relationships/slideLayout" Target="/ppt/slideLayouts/slideLayout2.xml" Id="Ra0e959b45a4446a1" /><Relationship Type="http://schemas.openxmlformats.org/officeDocument/2006/relationships/slideLayout" Target="/ppt/slideLayouts/slideLayout3.xml" Id="R709b90420ca24fcb" /><Relationship Type="http://schemas.openxmlformats.org/officeDocument/2006/relationships/slideLayout" Target="/ppt/slideLayouts/slideLayout4.xml" Id="R4077af751e1e4d7e" /><Relationship Type="http://schemas.openxmlformats.org/officeDocument/2006/relationships/slideLayout" Target="/ppt/slideLayouts/slideLayout5.xml" Id="R29e91b52c45d42a1" /><Relationship Type="http://schemas.openxmlformats.org/officeDocument/2006/relationships/slideLayout" Target="/ppt/slideLayouts/slideLayout6.xml" Id="R8f8f084d74bf46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ee65c3ccce496d"/>
    <p:sldLayoutId xmlns:r="http://schemas.openxmlformats.org/officeDocument/2006/relationships" id="2147483650" r:id="Ra0e959b45a4446a1"/>
    <p:sldLayoutId xmlns:r="http://schemas.openxmlformats.org/officeDocument/2006/relationships" id="2147483651" r:id="R709b90420ca24fcb"/>
    <p:sldLayoutId xmlns:r="http://schemas.openxmlformats.org/officeDocument/2006/relationships" id="2147483652" r:id="R4077af751e1e4d7e"/>
    <p:sldLayoutId xmlns:r="http://schemas.openxmlformats.org/officeDocument/2006/relationships" id="2147483653" r:id="R29e91b52c45d42a1"/>
    <p:sldLayoutId xmlns:r="http://schemas.openxmlformats.org/officeDocument/2006/relationships" id="2147483654" r:id="R8f8f084d74bf46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50283756d4999" /><Relationship Type="http://schemas.openxmlformats.org/officeDocument/2006/relationships/notesSlide" Target="/ppt/notesSlides/notesSlide1.xml" Id="R11fef9f35c06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36a06e19a4b99" /><Relationship Type="http://schemas.openxmlformats.org/officeDocument/2006/relationships/image" Target="/ppt/media/image.png" Id="R84a29ea3802e4c22" /><Relationship Type="http://schemas.openxmlformats.org/officeDocument/2006/relationships/notesSlide" Target="/ppt/notesSlides/notesSlide2.xml" Id="R6e1568783ed743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5db1221204377" /><Relationship Type="http://schemas.openxmlformats.org/officeDocument/2006/relationships/notesSlide" Target="/ppt/notesSlides/notesSlide3.xml" Id="Rcff9573233f74c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4bf8f8dad44a9" /><Relationship Type="http://schemas.openxmlformats.org/officeDocument/2006/relationships/notesSlide" Target="/ppt/notesSlides/notesSlide4.xml" Id="Rb7d810aeb9a045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8A103-43F8-4EFE-A322-58EBE52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TrendForge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22793-891D-4989-9C3C-C2312AC1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D4D50-7C42-4C5A-B08A-4391477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9532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A product to sell.</a:t>
            </a:r>
          </a:p>
          <a:p xmlns:a="http://schemas.openxmlformats.org/drawingml/2006/main">
            <a:pPr>
              <a:def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No idea what</a:t>
            </a:r>
          </a:p>
          <a:p xmlns:a="http://schemas.openxmlformats.org/drawingml/2006/main">
            <a:pPr>
              <a:def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to film.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210E9-1358-4C62-B9D8-07B4DB28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48175"/>
            <a:ext cx="676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Small business owners need customers.</a:t>
            </a:r>
          </a:p>
          <a:p xmlns:a="http://schemas.openxmlformats.org/drawingml/2006/main">
            <a:pPr>
              <a:defRPr sz="21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Creating social content takes time</a:t>
            </a:r>
          </a:p>
          <a:p xmlns:a="http://schemas.openxmlformats.org/drawingml/2006/main">
            <a:pPr>
              <a:defRPr sz="21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and marketing knowledge.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0D364-6FCD-4D38-B375-7F88C10C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38300"/>
            <a:ext cx="3333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4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4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rPr>
              <a:t>52%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4A7E3-EF95-408B-9907-6B6008C2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67075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of early-stage businesses</a:t>
            </a:r>
          </a:p>
          <a:p xmlns:a="http://schemas.openxmlformats.org/drawingml/2006/main">
            <a:pPr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surveyed named customer</a:t>
            </a:r>
          </a:p>
          <a:p xmlns:a="http://schemas.openxmlformats.org/drawingml/2006/main">
            <a:pPr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acquisition their top</a:t>
            </a:r>
          </a:p>
          <a:p xmlns:a="http://schemas.openxmlformats.org/drawingml/2006/main">
            <a:pPr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marketing challenge.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0B51D-BB54-4CCB-BA60-97A1DE94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769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Constant Contact, 2025 · 1,600 businesses · US, UK, Australia &amp; Canada</a:t>
            </a:r>
          </a:p>
        </p:txBody>
      </p:sp>
    </p:spTree>
    <p:extLst>
      <p:ext uri="{BB962C8B-B14F-4D97-AF65-F5344CB8AC3E}">
        <p14:creationId xmlns:p14="http://schemas.microsoft.com/office/powerpoint/2010/main" val="1422281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775D1-0A94-495B-AA77-AEA0835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TrendForge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577BB-4DC7-40C6-A492-D32EFCFB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9A218-1557-4399-815A-9057C099A9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29ea3802e4c22"/>
          <a:srcRect xmlns:a="http://schemas.openxmlformats.org/drawingml/2006/main" l="5571" t="0" r="5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26085-1C64-4988-817B-511014A6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429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 new product.</a:t>
            </a:r>
          </a:p>
          <a:p xmlns:a="http://schemas.openxmlformats.org/drawingml/2006/main">
            <a:pPr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 video to make.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0080F-0FA7-4715-A8B5-C9C1020F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0"/>
            <a:ext cx="614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A jewelry seller wants to promote</a:t>
            </a:r>
          </a:p>
          <a:p xmlns:a="http://schemas.openxmlformats.org/drawingml/2006/main">
            <a:pPr>
              <a:def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a new necklace on social media.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B05B1-5872-4217-B70C-B6DCB446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95825"/>
            <a:ext cx="62007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“What should I film</a:t>
            </a:r>
          </a:p>
          <a:p xmlns:a="http://schemas.openxmlformats.org/drawingml/2006/main">
            <a:pPr>
              <a:defRPr sz="255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to bring people to my store?”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77E8F-0972-47ED-9AE7-108C19B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769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Illustrative use case · AI-generated image</a:t>
            </a:r>
          </a:p>
        </p:txBody>
      </p:sp>
    </p:spTree>
    <p:extLst>
      <p:ext uri="{BB962C8B-B14F-4D97-AF65-F5344CB8AC3E}">
        <p14:creationId xmlns:p14="http://schemas.microsoft.com/office/powerpoint/2010/main" val="1775043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0F6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E4A66-4A04-4724-B5C3-435F168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TrendForge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1508F-0393-4C91-B4E7-D1E33370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A8F46-10B7-4947-B1D4-74F5A975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 trend becomes</a:t>
            </a:r>
          </a:p>
          <a:p xmlns:a="http://schemas.openxmlformats.org/drawingml/2006/main">
            <a:pPr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 filming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BA76B-89EC-4BCB-9373-5D6362C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3C181-10AD-4FFC-8CAC-D627277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909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Choose a 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7967C-9D69-458D-92A0-46554E58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385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See its hook, timing and fit for your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BBEEB-D613-4EBE-881E-5029A558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E95E8-E631-499A-B0A6-5A43F23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576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Get a filming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D65CF-6025-4882-B72D-412F8A4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0530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Add your product. Get shots and on-screen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EB5B2-008F-4E49-89C0-2E242E0D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12732-338D-4C62-84F3-13F8B555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2445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Record and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CBA34-1D4D-41B0-8C5D-DA5D5455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7207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Film on your phone. Upload a draft for feedback.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568F4-37B1-4D80-91A5-77161F90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AI analyzes the reference. You make the video.</a:t>
            </a:r>
          </a:p>
        </p:txBody>
      </p:sp>
    </p:spTree>
    <p:extLst>
      <p:ext uri="{BB962C8B-B14F-4D97-AF65-F5344CB8AC3E}">
        <p14:creationId xmlns:p14="http://schemas.microsoft.com/office/powerpoint/2010/main" val="34800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9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17965-B2E9-4E9A-966A-C2D9611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TrendForge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25C13-4C0D-4BBC-80E8-92ABBA9A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0D9C6-EDDB-4B81-95F8-64489932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More sales from</a:t>
            </a:r>
          </a:p>
          <a:p xmlns:a="http://schemas.openxmlformats.org/drawingml/2006/main">
            <a:pPr>
              <a:defRPr sz="54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less content effort.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13EBC-1DEC-4CF5-ADF9-D683C1BD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38500"/>
            <a:ext cx="10810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Our hypothesis: a clearer plan helps owners create</a:t>
            </a:r>
          </a:p>
          <a:p xmlns:a="http://schemas.openxmlformats.org/drawingml/2006/main">
            <a:pPr>
              <a:def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content faster and bring more buyers to their store.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00D2F-892A-47E4-B081-AE0F21B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815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rPr>
              <a:t>Less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0CD44-E465-45F2-85BE-87BD02E8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6732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Minutes per 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25980-DB59-4C75-BDCC-B29DDEA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rPr>
              <a:t>More visits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F62CC-FAB4-473B-A008-86BBC6F4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6732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Tracked store visits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4BDCB-CE97-46F0-8E32-79ADB55D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815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rPr>
              <a:t>More sales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8C38E-11D7-4026-B2AF-5722404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26732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Orders from those visits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EBBB4-9999-44E3-BF0F-77F8E6C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7697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Pilot: compare against the owner’s usual content · Revenue impact is not yet validated</a:t>
            </a:r>
          </a:p>
        </p:txBody>
      </p:sp>
    </p:spTree>
    <p:extLst>
      <p:ext uri="{BB962C8B-B14F-4D97-AF65-F5344CB8AC3E}">
        <p14:creationId xmlns:p14="http://schemas.microsoft.com/office/powerpoint/2010/main" val="1298660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2026-10-12T10:47:27.8910000Z</dcterms:created>
  <dcterms:modified xsi:type="dcterms:W3CDTF">2026-10-12T10:47:27.8910000Z</dcterms:modified>
</coreProperties>
</file>